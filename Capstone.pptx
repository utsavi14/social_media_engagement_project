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9144000"/>
  <p:notesSz cx="6858000" cy="9144000"/>
  <p:embeddedFontLst>
    <p:embeddedFont>
      <p:font typeface="Montserrat"/>
      <p:regular r:id="rId20"/>
      <p:bold r:id="rId21"/>
      <p:italic r:id="rId22"/>
      <p:boldItalic r:id="rId23"/>
    </p:embeddedFont>
    <p:embeddedFont>
      <p:font typeface="Open Sans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regular.fntdata"/><Relationship Id="rId22" Type="http://schemas.openxmlformats.org/officeDocument/2006/relationships/font" Target="fonts/Montserrat-italic.fntdata"/><Relationship Id="rId21" Type="http://schemas.openxmlformats.org/officeDocument/2006/relationships/font" Target="fonts/Montserrat-bold.fntdata"/><Relationship Id="rId24" Type="http://schemas.openxmlformats.org/officeDocument/2006/relationships/font" Target="fonts/OpenSans-regular.fntdata"/><Relationship Id="rId23" Type="http://schemas.openxmlformats.org/officeDocument/2006/relationships/font" Target="fonts/Montserrat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OpenSans-italic.fntdata"/><Relationship Id="rId25" Type="http://schemas.openxmlformats.org/officeDocument/2006/relationships/font" Target="fonts/OpenSans-bold.fntdata"/><Relationship Id="rId27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99da40ec0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99da40ec0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99da40ec0_0_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99da40ec0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999da40ec0_0_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999da40ec0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itle_gradient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-532800" y="636600"/>
            <a:ext cx="102096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Social Media Engagement Analysis</a:t>
            </a:r>
            <a:endParaRPr sz="600"/>
          </a:p>
        </p:txBody>
      </p:sp>
      <p:sp>
        <p:nvSpPr>
          <p:cNvPr id="86" name="Google Shape;86;p13"/>
          <p:cNvSpPr txBox="1"/>
          <p:nvPr/>
        </p:nvSpPr>
        <p:spPr>
          <a:xfrm>
            <a:off x="83075" y="3428995"/>
            <a:ext cx="10972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Predicting Instagram Engagement Using CRISP-DM</a:t>
            </a:r>
            <a:endParaRPr b="1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4473125" y="5861325"/>
            <a:ext cx="4579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Utsavi Sunil Patel</a:t>
            </a:r>
            <a:endParaRPr b="1" sz="32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4000"/>
              <a:buFont typeface="Montserrat"/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CRISP-DM Framework</a:t>
            </a:r>
            <a:endParaRPr/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3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Business Understanding</a:t>
            </a:r>
            <a:endParaRPr sz="34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Data Understanding</a:t>
            </a:r>
            <a:endParaRPr sz="34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Data Preparation</a:t>
            </a:r>
            <a:endParaRPr sz="34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Modeling</a:t>
            </a:r>
            <a:endParaRPr sz="34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Evaluation</a:t>
            </a:r>
            <a:endParaRPr sz="34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Recommendations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4000"/>
              <a:buFont typeface="Montserrat"/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Business Understanding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Customer: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Instagram followers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Problem: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Engagement varies across posts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Why it matters: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Engagement = visibility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Goal: 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Improve engagement strategy</a:t>
            </a:r>
            <a:endParaRPr sz="2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4000"/>
              <a:buFont typeface="Montserrat"/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Data Understanding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Dataset: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instagram_reach.csv 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Features: 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username,</a:t>
            </a: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captions, hashtags, likes, followers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Issues: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missing text + time in words</a:t>
            </a:r>
            <a:endParaRPr sz="2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4000"/>
              <a:buFont typeface="Montserrat"/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Data Preparation</a:t>
            </a:r>
            <a:endParaRPr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Cleaned text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Converted time to hours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Created new features:</a:t>
            </a:r>
            <a:endParaRPr sz="2600"/>
          </a:p>
          <a:p>
            <a:pPr indent="0" lvl="0" marL="342900" rtl="0" algn="l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 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- 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caption_length</a:t>
            </a:r>
            <a:endParaRPr sz="2600"/>
          </a:p>
          <a:p>
            <a:pPr indent="0" lvl="0" marL="342900" rtl="0" algn="l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 - hashtag_count</a:t>
            </a:r>
            <a:endParaRPr sz="2600"/>
          </a:p>
          <a:p>
            <a:pPr indent="0" lvl="0" marL="342900" rtl="0" algn="l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 - engagement_rate</a:t>
            </a:r>
            <a:endParaRPr sz="2600"/>
          </a:p>
          <a:p>
            <a:pPr indent="0" lvl="0" marL="342900" rtl="0" algn="l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 - hours_since_posted</a:t>
            </a:r>
            <a:endParaRPr sz="2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EDA Insight 1 — Hashtags</a:t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2600">
              <a:solidFill>
                <a:schemeClr val="lt1"/>
              </a:solidFill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600"/>
              <a:buChar char="•"/>
            </a:pPr>
            <a:r>
              <a:rPr lang="en-US" sz="2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Weak relationship with engagement</a:t>
            </a:r>
            <a:endParaRPr sz="2600">
              <a:solidFill>
                <a:schemeClr val="lt1"/>
              </a:solidFill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600"/>
              <a:buChar char="•"/>
            </a:pPr>
            <a:r>
              <a:rPr lang="en-US" sz="2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Most posts show low engagement</a:t>
            </a:r>
            <a:endParaRPr sz="2600">
              <a:solidFill>
                <a:schemeClr val="lt1"/>
              </a:solidFill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600"/>
              <a:buChar char="•"/>
            </a:pPr>
            <a:r>
              <a:rPr lang="en-US" sz="2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Some outliers exist</a:t>
            </a:r>
            <a:endParaRPr sz="2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56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118" name="Google Shape;118;p18" title="Screenshot 2025-11-14 at 5.37.33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2127250"/>
            <a:ext cx="4319951" cy="3999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EDA Insight 2 — Caption Length</a:t>
            </a:r>
            <a:endParaRPr/>
          </a:p>
        </p:txBody>
      </p:sp>
      <p:sp>
        <p:nvSpPr>
          <p:cNvPr id="124" name="Google Shape;124;p19"/>
          <p:cNvSpPr txBox="1"/>
          <p:nvPr>
            <p:ph idx="1" type="body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600"/>
              <a:buChar char="•"/>
            </a:pPr>
            <a:r>
              <a:rPr lang="en-US" sz="2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Very long captions underperform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600"/>
              <a:buChar char="•"/>
            </a:pPr>
            <a:r>
              <a:rPr lang="en-US" sz="2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Weak relationship overall</a:t>
            </a:r>
            <a:endParaRPr sz="2600"/>
          </a:p>
          <a:p>
            <a:pPr indent="0" lvl="0" marL="0" rtl="0" algn="l">
              <a:spcBef>
                <a:spcPts val="5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5" name="Google Shape;125;p19" title="Screenshot 2025-11-14 at 5.41.56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2218775"/>
            <a:ext cx="4394026" cy="37493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EDA Insight 3 — Timing</a:t>
            </a:r>
            <a:endParaRPr/>
          </a:p>
        </p:txBody>
      </p:sp>
      <p:sp>
        <p:nvSpPr>
          <p:cNvPr id="131" name="Google Shape;131;p20"/>
          <p:cNvSpPr txBox="1"/>
          <p:nvPr>
            <p:ph idx="1" type="body"/>
          </p:nvPr>
        </p:nvSpPr>
        <p:spPr>
          <a:xfrm>
            <a:off x="457200" y="1600200"/>
            <a:ext cx="4038600" cy="452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t/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600"/>
              <a:buChar char="•"/>
            </a:pPr>
            <a:r>
              <a:rPr lang="en-US" sz="2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Posts in first 0–5 hours get highest likes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600"/>
              <a:buChar char="•"/>
            </a:pPr>
            <a:r>
              <a:rPr lang="en-US" sz="26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Engagement drops after 10 hours</a:t>
            </a:r>
            <a:endParaRPr sz="2600"/>
          </a:p>
          <a:p>
            <a:pPr indent="0" lvl="0" marL="0" rtl="0" algn="l">
              <a:spcBef>
                <a:spcPts val="5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2" name="Google Shape;132;p20" title="Screenshot 2025-11-14 at 5.44.5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6350" y="2127701"/>
            <a:ext cx="4343401" cy="3579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4000"/>
              <a:buFont typeface="Montserrat"/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Modeling Approach</a:t>
            </a:r>
            <a:endParaRPr/>
          </a:p>
        </p:txBody>
      </p:sp>
      <p:sp>
        <p:nvSpPr>
          <p:cNvPr id="138" name="Google Shape;138;p2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Target: 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High vs Low Engagement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Baseline: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Logistic Regression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Improved: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Decision Tree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b="1"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Features: </a:t>
            </a: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Followers, Hashtag Count, Caption Length, Time</a:t>
            </a:r>
            <a:endParaRPr sz="26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4000"/>
              <a:buFont typeface="Montserrat"/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Model Results</a:t>
            </a:r>
            <a:endParaRPr/>
          </a:p>
        </p:txBody>
      </p:sp>
      <p:sp>
        <p:nvSpPr>
          <p:cNvPr id="144" name="Google Shape;144;p2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Logistic Regression Accuracy: 85%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Decision Tree Accuracy: 70%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Top Predictors:</a:t>
            </a:r>
            <a:endParaRPr sz="2600"/>
          </a:p>
          <a:p>
            <a:pPr indent="0" lvl="0" marL="342900" rtl="0" algn="l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 1. Followers</a:t>
            </a:r>
            <a:endParaRPr sz="2600"/>
          </a:p>
          <a:p>
            <a:pPr indent="0" lvl="0" marL="342900" rtl="0" algn="l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 2. Hours Since Posted</a:t>
            </a:r>
            <a:endParaRPr sz="2600"/>
          </a:p>
          <a:p>
            <a:pPr indent="0" lvl="0" marL="342900" rtl="0" algn="l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 3. Hashtag Count</a:t>
            </a:r>
            <a:endParaRPr sz="2600"/>
          </a:p>
          <a:p>
            <a:pPr indent="0" lvl="0" marL="342900" rtl="0" algn="l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  4. Caption Length</a:t>
            </a:r>
            <a:endParaRPr sz="26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4000"/>
              <a:buFont typeface="Montserrat"/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Recommendations</a:t>
            </a:r>
            <a:endParaRPr/>
          </a:p>
        </p:txBody>
      </p:sp>
      <p:sp>
        <p:nvSpPr>
          <p:cNvPr id="150" name="Google Shape;150;p2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Post during high-activity hours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Grow followers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Use simple captions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Use moderate hashtags</a:t>
            </a:r>
            <a:endParaRPr sz="2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4000"/>
              <a:buFont typeface="Montserrat"/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Next Steps</a:t>
            </a:r>
            <a:endParaRPr/>
          </a:p>
        </p:txBody>
      </p:sp>
      <p:sp>
        <p:nvSpPr>
          <p:cNvPr id="156" name="Google Shape;156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post type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Sentiment analysis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Image analysis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Use larger dataset</a:t>
            </a:r>
            <a:endParaRPr sz="2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B59B6"/>
              </a:buClr>
              <a:buSzPts val="4000"/>
              <a:buFont typeface="Montserrat"/>
              <a:buNone/>
            </a:pPr>
            <a:r>
              <a:rPr b="1" lang="en-US" sz="4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Conclusion</a:t>
            </a:r>
            <a:endParaRPr/>
          </a:p>
        </p:txBody>
      </p:sp>
      <p:sp>
        <p:nvSpPr>
          <p:cNvPr id="162" name="Google Shape;162;p2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39700" lvl="0" marL="3429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t/>
            </a:r>
            <a:endParaRPr sz="2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Engagement mainly driven by timing &amp; followers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Hashtags &amp; captions have limited effect</a:t>
            </a:r>
            <a:endParaRPr sz="2600"/>
          </a:p>
          <a:p>
            <a:pPr indent="-355600" lvl="0" marL="342900" rtl="0" algn="l">
              <a:spcBef>
                <a:spcPts val="480"/>
              </a:spcBef>
              <a:spcAft>
                <a:spcPts val="0"/>
              </a:spcAft>
              <a:buClr>
                <a:srgbClr val="FFFFFF"/>
              </a:buClr>
              <a:buSzPts val="2600"/>
              <a:buChar char="•"/>
            </a:pPr>
            <a:r>
              <a:rPr lang="en-US" sz="26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Clear posting strategy delivered</a:t>
            </a:r>
            <a:endParaRPr sz="2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/>
        </p:nvSpPr>
        <p:spPr>
          <a:xfrm>
            <a:off x="1828800" y="2743200"/>
            <a:ext cx="91440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000">
                <a:solidFill>
                  <a:srgbClr val="9B59B6"/>
                </a:solidFill>
                <a:latin typeface="Montserrat"/>
                <a:ea typeface="Montserrat"/>
                <a:cs typeface="Montserrat"/>
                <a:sym typeface="Montserrat"/>
              </a:rPr>
              <a:t>Thank You</a:t>
            </a:r>
            <a:endParaRPr>
              <a:solidFill>
                <a:srgbClr val="9B59B6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